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03535"/>
                </a:solidFill>
                <a:latin typeface="Aptos"/>
              </a:rPr>
              <a:t>MUSIC STREAMING ~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5778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500" b="1">
                <a:solidFill>
                  <a:srgbClr val="20262E"/>
                </a:solidFill>
                <a:latin typeface="Aptos"/>
              </a:rPr>
              <a:t>SQL Project
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154680"/>
            <a:ext cx="6217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9717B"/>
                </a:solidFill>
                <a:latin typeface="Aptos"/>
              </a:rPr>
              <a:t>28 Business Questions • MySQL • Advanced 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0749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0262E"/>
                </a:solidFill>
                <a:latin typeface="Aptos"/>
              </a:rPr>
              <a:t>Prashant Kumar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53212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96096"/>
                </a:solidFill>
                <a:latin typeface="Aptos"/>
              </a:rPr>
              <a:t>JOINs • Window Functions • CTEs • Subqueries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383280" cy="3383280"/>
          </a:xfrm>
          <a:prstGeom prst="roundRect">
            <a:avLst/>
          </a:prstGeom>
          <a:solidFill>
            <a:srgbClr val="1F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828800"/>
            <a:ext cx="28346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0" b="1">
                <a:solidFill>
                  <a:srgbClr val="FFFFFF"/>
                </a:solidFill>
                <a:latin typeface="Aptos"/>
              </a:rPr>
              <a:t>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36576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D03535"/>
                </a:solidFill>
                <a:latin typeface="Aptos"/>
              </a:rPr>
              <a:t>DATA → SQL → INSIGHT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0262E"/>
                </a:solidFill>
                <a:latin typeface="Aptos"/>
              </a:rPr>
              <a:t>Music Streaming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B"/>
                </a:solidFill>
                <a:latin typeface="Aptos"/>
              </a:rPr>
              <a:t>Objective: transform raw streaming events into measurable insights about content, users, subscription levels and listening behavior.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06040"/>
            <a:ext cx="2514600" cy="1143000"/>
          </a:xfrm>
          <a:prstGeom prst="roundRect">
            <a:avLst/>
          </a:prstGeom>
          <a:solidFill>
            <a:srgbClr val="F9FAFC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78892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20262E"/>
                </a:solidFill>
                <a:latin typeface="Aptos"/>
              </a:rPr>
              <a:t>8,056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310128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9717B"/>
                </a:solidFill>
                <a:latin typeface="Aptos"/>
              </a:rPr>
              <a:t>Event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606040"/>
            <a:ext cx="2514600" cy="1143000"/>
          </a:xfrm>
          <a:prstGeom prst="roundRect">
            <a:avLst/>
          </a:prstGeom>
          <a:solidFill>
            <a:srgbClr val="F9FAFC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78892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20262E"/>
                </a:solidFill>
                <a:latin typeface="Aptos"/>
              </a:rPr>
              <a:t>6,820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310128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9717B"/>
                </a:solidFill>
                <a:latin typeface="Aptos"/>
              </a:rPr>
              <a:t>NextSong plays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606040"/>
            <a:ext cx="2514600" cy="1143000"/>
          </a:xfrm>
          <a:prstGeom prst="roundRect">
            <a:avLst/>
          </a:prstGeom>
          <a:solidFill>
            <a:srgbClr val="F9FAFC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78892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20262E"/>
                </a:solidFill>
                <a:latin typeface="Aptos"/>
              </a:rPr>
              <a:t>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10128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9717B"/>
                </a:solidFill>
                <a:latin typeface="Aptos"/>
              </a:rPr>
              <a:t>Users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39" y="2606040"/>
            <a:ext cx="2514600" cy="1143000"/>
          </a:xfrm>
          <a:prstGeom prst="roundRect">
            <a:avLst/>
          </a:prstGeom>
          <a:solidFill>
            <a:srgbClr val="F9FAFC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19" y="278892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20262E"/>
                </a:solidFill>
                <a:latin typeface="Aptos"/>
              </a:rPr>
              <a:t>79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19" y="3310128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9717B"/>
                </a:solidFill>
                <a:latin typeface="Aptos"/>
              </a:rPr>
              <a:t>Song metadata 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519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0262E"/>
                </a:solidFill>
                <a:latin typeface="Aptos"/>
              </a:rPr>
              <a:t>SQL toolkit used across Q1–Q28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6344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96096"/>
                </a:solidFill>
                <a:latin typeface="Aptos"/>
              </a:rPr>
              <a:t>JOINs • GROUP BY • HAVING • CTEs • RANK • DENSE_RANK • ROW_NUMBER • LAG • Subqueries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9496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03535"/>
                </a:solidFill>
                <a:latin typeface="Aptos"/>
              </a:rPr>
              <a:t>Data-quality note: the supplied songs metadata has very limited exact artist + song matches, so release-year questions must be interpreted cautiously.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B"/>
                </a:solidFill>
                <a:latin typeface="Aptos"/>
              </a:rPr>
              <a:t>MUSIC STREAMING SQL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56539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17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10927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0262E"/>
                </a:solidFill>
                <a:latin typeface="Aptos"/>
              </a:rPr>
              <a:t>Q1. Join events with songs and calculate total song plays for every artist.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65376"/>
            <a:ext cx="6629400" cy="2606040"/>
          </a:xfrm>
          <a:prstGeom prst="roundRect">
            <a:avLst/>
          </a:prstGeom>
          <a:solidFill>
            <a:srgbClr val="F8F9FB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11680"/>
            <a:ext cx="6300216" cy="236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0262E"/>
                </a:solidFill>
                <a:latin typeface="Consolas"/>
              </a:rPr>
              <a:t>SELECT
    s.artist_name,
    COUNT(*) AS total_song_plays
FROM events_cleaned e
JOIN songs s
    ON e.artist = s.artist_name
   AND e.song = s.title
WHERE e.page = 'NextSong'
GROUP BY s.artist_name
ORDER BY total_song_plays DESC;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24358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81328"/>
            <a:ext cx="3931920" cy="2999232"/>
          </a:xfrm>
          <a:prstGeom prst="roundRect">
            <a:avLst/>
          </a:prstGeom>
          <a:solidFill>
            <a:srgbClr val="FCFCFC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984248"/>
            <a:ext cx="3529584" cy="2340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62E"/>
                </a:solidFill>
                <a:latin typeface="Aptos"/>
              </a:rPr>
              <a:t>Exact metadata join produced 1 matched song-play row: Elena — Setanta matins. This confirms the join works syntactically, but the supplied metadata match is very sparse.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526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OUTPUT SAMPLE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1792" y="4754880"/>
          <a:ext cx="722376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/>
                <a:gridCol w="3611880"/>
              </a:tblGrid>
              <a:tr h="67665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artist_name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total_song_plays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Elena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065008" y="482803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9717B"/>
                </a:solidFill>
                <a:latin typeface="Aptos"/>
              </a:rPr>
              <a:t>SQL 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5148072"/>
            <a:ext cx="3246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96096"/>
                </a:solidFill>
                <a:latin typeface="Aptos"/>
              </a:rPr>
              <a:t>JOIN + GROUP BY + 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5897880"/>
            <a:ext cx="16459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D03535"/>
                </a:solidFill>
                <a:latin typeface="Aptos"/>
              </a:rPr>
              <a:t>Data validation note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6126480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17B"/>
                </a:solidFill>
                <a:latin typeface="Aptos"/>
              </a:rPr>
              <a:t>Result constrained by the supplied event ↔ song metadata match.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B"/>
                </a:solidFill>
                <a:latin typeface="Aptos"/>
              </a:rPr>
              <a:t>MUSIC STREAMING SQL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6539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17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10927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0262E"/>
                </a:solidFill>
                <a:latin typeface="Aptos"/>
              </a:rPr>
              <a:t>Q2. Join events with songs and find the top 10 songs by number of plays.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65376"/>
            <a:ext cx="6629400" cy="2606040"/>
          </a:xfrm>
          <a:prstGeom prst="roundRect">
            <a:avLst/>
          </a:prstGeom>
          <a:solidFill>
            <a:srgbClr val="F8F9FB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11680"/>
            <a:ext cx="6300216" cy="236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0262E"/>
                </a:solidFill>
                <a:latin typeface="Consolas"/>
              </a:rPr>
              <a:t>SELECT
    s.title,
    s.artist_name,
    COUNT(*) AS total_plays
FROM events_cleaned e
JOIN songs s
    ON e.artist = s.artist_name
   AND e.song = s.title
WHERE e.page = 'NextSong'
GROUP BY s.title, s.artist_name
ORDER BY total_plays DESC
LIMIT 10;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24358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81328"/>
            <a:ext cx="3931920" cy="2999232"/>
          </a:xfrm>
          <a:prstGeom prst="roundRect">
            <a:avLst/>
          </a:prstGeom>
          <a:solidFill>
            <a:srgbClr val="FCFCFC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984248"/>
            <a:ext cx="3529584" cy="2340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62E"/>
                </a:solidFill>
                <a:latin typeface="Aptos"/>
              </a:rPr>
              <a:t>Only one exact artist + song match exists in the supplied files, so a full top-10 list cannot be produced from the current metadata join.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526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OUTPUT SAMPLE</a:t>
            </a:r>
          </a:p>
        </p:txBody>
      </p:sp>
      <p:pic>
        <p:nvPicPr>
          <p:cNvPr id="13" name="Picture 12" descr="q2_outpu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4773168"/>
            <a:ext cx="7223760" cy="1417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65008" y="4919472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B"/>
                </a:solidFill>
                <a:latin typeface="Aptos"/>
              </a:rPr>
              <a:t>Source: MySQL Workbench screenshot supplied for this project.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5650992"/>
            <a:ext cx="3246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96096"/>
                </a:solidFill>
                <a:latin typeface="Aptos"/>
              </a:rPr>
              <a:t>JOIN + GROUP BY + ORDER BY + LIMIT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B"/>
                </a:solidFill>
                <a:latin typeface="Aptos"/>
              </a:rPr>
              <a:t>MUSIC STREAMING SQL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6539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17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10927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0262E"/>
                </a:solidFill>
                <a:latin typeface="Aptos"/>
              </a:rPr>
              <a:t>Q3. Find total listening time in minutes for every artist.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65376"/>
            <a:ext cx="6629400" cy="2606040"/>
          </a:xfrm>
          <a:prstGeom prst="roundRect">
            <a:avLst/>
          </a:prstGeom>
          <a:solidFill>
            <a:srgbClr val="F8F9FB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11680"/>
            <a:ext cx="6300216" cy="236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0262E"/>
                </a:solidFill>
                <a:latin typeface="Consolas"/>
              </a:rPr>
              <a:t>SELECT
    artist,
    ROUND(SUM(length) / 60, 2) AS total_listening_minutes
FROM events_cleaned
WHERE page = 'NextSong'
GROUP BY artist
ORDER BY total_listening_minutes DESC;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24358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81328"/>
            <a:ext cx="3931920" cy="2999232"/>
          </a:xfrm>
          <a:prstGeom prst="roundRect">
            <a:avLst/>
          </a:prstGeom>
          <a:solidFill>
            <a:srgbClr val="FCFCFC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984248"/>
            <a:ext cx="3529584" cy="2340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62E"/>
                </a:solidFill>
                <a:latin typeface="Aptos"/>
              </a:rPr>
              <a:t>Metallica leads the returned artist-level listening time at 34.35 minutes, followed by Radiohead (29.56) and Muse (28.04).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526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OUTPUT SAMPLE</a:t>
            </a:r>
          </a:p>
        </p:txBody>
      </p:sp>
      <p:pic>
        <p:nvPicPr>
          <p:cNvPr id="13" name="Picture 12" descr="q3_outpu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4773168"/>
            <a:ext cx="7223760" cy="1417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65008" y="4919472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B"/>
                </a:solidFill>
                <a:latin typeface="Aptos"/>
              </a:rPr>
              <a:t>Source: MySQL Workbench screenshot supplied for this project.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5650992"/>
            <a:ext cx="3246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96096"/>
                </a:solidFill>
                <a:latin typeface="Aptos"/>
              </a:rPr>
              <a:t>GROUP BY + SUM + Unit Conversion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B"/>
                </a:solidFill>
                <a:latin typeface="Aptos"/>
              </a:rPr>
              <a:t>MUSIC STREAMING SQL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6539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17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10927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0262E"/>
                </a:solidFill>
                <a:latin typeface="Aptos"/>
              </a:rPr>
              <a:t>Q4. Find users who listened to at least one song released after 2010.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65376"/>
            <a:ext cx="6629400" cy="2606040"/>
          </a:xfrm>
          <a:prstGeom prst="roundRect">
            <a:avLst/>
          </a:prstGeom>
          <a:solidFill>
            <a:srgbClr val="F8F9FB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11680"/>
            <a:ext cx="6300216" cy="236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0262E"/>
                </a:solidFill>
                <a:latin typeface="Consolas"/>
              </a:rPr>
              <a:t>SELECT DISTINCT
    e.userId
FROM events_cleaned e
JOIN songs s
    ON e.artist = s.artist_name
   AND e.song = s.title
WHERE e.page = 'NextSong'
  AND s.year &gt; 2010;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24358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81328"/>
            <a:ext cx="3931920" cy="2999232"/>
          </a:xfrm>
          <a:prstGeom prst="roundRect">
            <a:avLst/>
          </a:prstGeom>
          <a:solidFill>
            <a:srgbClr val="FCFCFC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984248"/>
            <a:ext cx="3529584" cy="2340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62E"/>
                </a:solidFill>
                <a:latin typeface="Aptos"/>
              </a:rPr>
              <a:t>No user qualifies because the current exact event-to-song metadata match does not include a song released after 2010.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526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OUTPUT SAMPLE</a:t>
            </a:r>
          </a:p>
        </p:txBody>
      </p:sp>
      <p:pic>
        <p:nvPicPr>
          <p:cNvPr id="13" name="Picture 12" descr="q4_outpu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4773168"/>
            <a:ext cx="7223760" cy="1417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65008" y="4919472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B"/>
                </a:solidFill>
                <a:latin typeface="Aptos"/>
              </a:rPr>
              <a:t>Source: MySQL Workbench screenshot supplied for this project.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5650992"/>
            <a:ext cx="3246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96096"/>
                </a:solidFill>
                <a:latin typeface="Aptos"/>
              </a:rPr>
              <a:t>JOIN + DISTINCT + Filtering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B"/>
                </a:solidFill>
                <a:latin typeface="Aptos"/>
              </a:rPr>
              <a:t>MUSIC STREAMING SQL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6539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17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10927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0262E"/>
                </a:solidFill>
                <a:latin typeface="Aptos"/>
              </a:rPr>
              <a:t>Q5. Compare paid and free users by number of song plays.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65376"/>
            <a:ext cx="6629400" cy="2606040"/>
          </a:xfrm>
          <a:prstGeom prst="roundRect">
            <a:avLst/>
          </a:prstGeom>
          <a:solidFill>
            <a:srgbClr val="F8F9FB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11680"/>
            <a:ext cx="6300216" cy="236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0262E"/>
                </a:solidFill>
                <a:latin typeface="Consolas"/>
              </a:rPr>
              <a:t>SELECT
    level,
    COUNT(*) AS total_song_plays
FROM events_cleaned
WHERE page = 'NextSong'
GROUP BY level
ORDER BY total_song_plays DESC;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24358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81328"/>
            <a:ext cx="3931920" cy="2999232"/>
          </a:xfrm>
          <a:prstGeom prst="roundRect">
            <a:avLst/>
          </a:prstGeom>
          <a:solidFill>
            <a:srgbClr val="FCFCFC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984248"/>
            <a:ext cx="3529584" cy="2340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62E"/>
                </a:solidFill>
                <a:latin typeface="Aptos"/>
              </a:rPr>
              <a:t>Paid users generated 653 song plays versus 160 for free users. Paid activity is about 80.3% of the observed NextSong plays.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526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OUTPUT SAMPLE</a:t>
            </a:r>
          </a:p>
        </p:txBody>
      </p:sp>
      <p:pic>
        <p:nvPicPr>
          <p:cNvPr id="13" name="Picture 12" descr="q5_outpu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4773168"/>
            <a:ext cx="7223760" cy="1417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65008" y="4919472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B"/>
                </a:solidFill>
                <a:latin typeface="Aptos"/>
              </a:rPr>
              <a:t>Source: MySQL Workbench screenshot supplied for this project.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5650992"/>
            <a:ext cx="3246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96096"/>
                </a:solidFill>
                <a:latin typeface="Aptos"/>
              </a:rPr>
              <a:t>GROUP BY + 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B"/>
                </a:solidFill>
                <a:latin typeface="Aptos"/>
              </a:rPr>
              <a:t>MUSIC STREAMING SQL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6539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17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10927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0262E"/>
                </a:solidFill>
                <a:latin typeface="Aptos"/>
              </a:rPr>
              <a:t>Q6. Find the most popular song for every subscription level.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65376"/>
            <a:ext cx="6629400" cy="2606040"/>
          </a:xfrm>
          <a:prstGeom prst="roundRect">
            <a:avLst/>
          </a:prstGeom>
          <a:solidFill>
            <a:srgbClr val="F8F9FB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11680"/>
            <a:ext cx="6300216" cy="236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0262E"/>
                </a:solidFill>
                <a:latin typeface="Consolas"/>
              </a:rPr>
              <a:t>WITH song_counts AS (
    SELECT level, song, COUNT(*) AS total_plays
    FROM events_cleaned
    WHERE page = 'NextSong'
    GROUP BY level, song
),
ranked_songs AS (
    SELECT
        level, song, total_plays,
        ROW_NUMBER() OVER (
            PARTITION BY level
            ORDER BY total_plays DESC
        ) AS rn
    FROM song_counts
)
SELECT level, song, total_plays
FROM ranked_songs
WHERE rn = 1
ORDER BY level;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24358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81328"/>
            <a:ext cx="3931920" cy="2999232"/>
          </a:xfrm>
          <a:prstGeom prst="roundRect">
            <a:avLst/>
          </a:prstGeom>
          <a:solidFill>
            <a:srgbClr val="FCFCFC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984248"/>
            <a:ext cx="3529584" cy="2340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62E"/>
                </a:solidFill>
                <a:latin typeface="Aptos"/>
              </a:rPr>
              <a:t>In the supplied result, Fireflies is the most-played free-level song (2 plays), while You're The One leads paid users (4 plays).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526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OUTPUT SAMPLE</a:t>
            </a:r>
          </a:p>
        </p:txBody>
      </p:sp>
      <p:pic>
        <p:nvPicPr>
          <p:cNvPr id="13" name="Picture 12" descr="q6_outpu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4773168"/>
            <a:ext cx="7223760" cy="1417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65008" y="4919472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B"/>
                </a:solidFill>
                <a:latin typeface="Aptos"/>
              </a:rPr>
              <a:t>Source: MySQL Workbench screenshot supplied for this project.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5650992"/>
            <a:ext cx="3246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96096"/>
                </a:solidFill>
                <a:latin typeface="Aptos"/>
              </a:rPr>
              <a:t>CTE + ROW_NUMBER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B"/>
                </a:solidFill>
                <a:latin typeface="Aptos"/>
              </a:rPr>
              <a:t>MUSIC STREAMING SQL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6539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17B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10927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0262E"/>
                </a:solidFill>
                <a:latin typeface="Aptos"/>
              </a:rPr>
              <a:t>Q7. Rank artists by total song plays using RANK().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65376"/>
            <a:ext cx="6629400" cy="2606040"/>
          </a:xfrm>
          <a:prstGeom prst="roundRect">
            <a:avLst/>
          </a:prstGeom>
          <a:solidFill>
            <a:srgbClr val="F8F9FB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11680"/>
            <a:ext cx="6300216" cy="236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0262E"/>
                </a:solidFill>
                <a:latin typeface="Consolas"/>
              </a:rPr>
              <a:t>WITH artist_plays AS (
    SELECT artist, COUNT(*) AS total_song_plays
    FROM events_cleaned
    WHERE page = 'NextSong'
    GROUP BY artist
)
SELECT
    artist,
    total_song_plays,
    RANK() OVER (
        ORDER BY total_song_plays DESC
    ) AS artist_rank
FROM artist_plays
ORDER BY artist_rank;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24358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81328"/>
            <a:ext cx="3931920" cy="2999232"/>
          </a:xfrm>
          <a:prstGeom prst="roundRect">
            <a:avLst/>
          </a:prstGeom>
          <a:solidFill>
            <a:srgbClr val="FCFCFC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984248"/>
            <a:ext cx="3529584" cy="2340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62E"/>
                </a:solidFill>
                <a:latin typeface="Aptos"/>
              </a:rPr>
              <a:t>Muse and Radiohead tie for rank 1 with 7 plays. The Black Keys and Coldplay tie for rank 3 with 6 plays.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526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OUTPUT SAMPLE</a:t>
            </a:r>
          </a:p>
        </p:txBody>
      </p:sp>
      <p:pic>
        <p:nvPicPr>
          <p:cNvPr id="13" name="Picture 12" descr="q7_outpu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4773168"/>
            <a:ext cx="7223760" cy="1417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65008" y="4919472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B"/>
                </a:solidFill>
                <a:latin typeface="Aptos"/>
              </a:rPr>
              <a:t>Source: MySQL Workbench screenshot supplied for this project.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5650992"/>
            <a:ext cx="3246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96096"/>
                </a:solidFill>
                <a:latin typeface="Aptos"/>
              </a:rPr>
              <a:t>CTE + RANK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B"/>
                </a:solidFill>
                <a:latin typeface="Aptos"/>
              </a:rPr>
              <a:t>MUSIC STREAMING SQL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6539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17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10927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0262E"/>
                </a:solidFill>
                <a:latin typeface="Aptos"/>
              </a:rPr>
              <a:t>Q8. Rank songs within each subscription level using DENSE_RANK().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65376"/>
            <a:ext cx="6629400" cy="2606040"/>
          </a:xfrm>
          <a:prstGeom prst="roundRect">
            <a:avLst/>
          </a:prstGeom>
          <a:solidFill>
            <a:srgbClr val="F8F9FB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11680"/>
            <a:ext cx="6300216" cy="236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0262E"/>
                </a:solidFill>
                <a:latin typeface="Consolas"/>
              </a:rPr>
              <a:t>WITH song_counts AS (
    SELECT level, song, COUNT(*) AS total_plays
    FROM events_cleaned
    WHERE page = 'NextSong'
    GROUP BY level, song
)
SELECT
    level,
    song,
    total_plays,
    DENSE_RANK() OVER (
        PARTITION BY level
        ORDER BY total_plays DESC
    ) AS song_rank
FROM song_counts
ORDER BY level, song_rank;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24358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81328"/>
            <a:ext cx="3931920" cy="2999232"/>
          </a:xfrm>
          <a:prstGeom prst="roundRect">
            <a:avLst/>
          </a:prstGeom>
          <a:solidFill>
            <a:srgbClr val="FCFCFC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984248"/>
            <a:ext cx="3529584" cy="2340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62E"/>
                </a:solidFill>
                <a:latin typeface="Aptos"/>
              </a:rPr>
              <a:t>For the visible free-user results, Fireflies, Revelry and Whataya Want From Me tie at rank 1 with 2 plays each.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526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OUTPUT SAMPLE</a:t>
            </a:r>
          </a:p>
        </p:txBody>
      </p:sp>
      <p:pic>
        <p:nvPicPr>
          <p:cNvPr id="13" name="Picture 12" descr="q8_outpu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4773168"/>
            <a:ext cx="7223760" cy="1417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65008" y="4919472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B"/>
                </a:solidFill>
                <a:latin typeface="Aptos"/>
              </a:rPr>
              <a:t>Source: MySQL Workbench screenshot supplied for this project.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5650992"/>
            <a:ext cx="3246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96096"/>
                </a:solidFill>
                <a:latin typeface="Aptos"/>
              </a:rPr>
              <a:t>CTE + DENSE_RANK + PARTITION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B"/>
                </a:solidFill>
                <a:latin typeface="Aptos"/>
              </a:rPr>
              <a:t>MUSIC STREAMING SQL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6539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17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10927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0262E"/>
                </a:solidFill>
                <a:latin typeface="Aptos"/>
              </a:rPr>
              <a:t>Q9. Find the top 3 artists by plays in each subscription level using ROW_NUMBER().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65376"/>
            <a:ext cx="6629400" cy="2606040"/>
          </a:xfrm>
          <a:prstGeom prst="roundRect">
            <a:avLst/>
          </a:prstGeom>
          <a:solidFill>
            <a:srgbClr val="F8F9FB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11680"/>
            <a:ext cx="6300216" cy="236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0262E"/>
                </a:solidFill>
                <a:latin typeface="Consolas"/>
              </a:rPr>
              <a:t>WITH artist_counts AS (
    SELECT
        level,
        artist,
        COUNT(*) AS total_plays
    FROM events_cleaned
    WHERE page = 'NextSong'
    GROUP BY level, artist
),
ranked_artists AS (
    SELECT
        level, artist, total_plays,
        ROW_NUMBER() OVER (
            PARTITION BY level
            ORDER BY total_plays DESC
        ) AS artist_rank
    FROM artist_counts
)
SELECT level, artist, total_plays, artist_rank
FROM ranked_artists
WHERE artist_rank &lt;= 3
ORDER BY level, artist_rank;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24358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81328"/>
            <a:ext cx="3931920" cy="2999232"/>
          </a:xfrm>
          <a:prstGeom prst="roundRect">
            <a:avLst/>
          </a:prstGeom>
          <a:solidFill>
            <a:srgbClr val="FCFCFC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984248"/>
            <a:ext cx="3529584" cy="2340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62E"/>
                </a:solidFill>
                <a:latin typeface="Aptos"/>
              </a:rPr>
              <a:t>The top 3 artists differ by subscription level: free is led by Kings Of Leon / Cute Is What We Aim For / Metallica, while paid is led by Muse / Radiohead / The Black Keys.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526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OUTPUT SAMPLE</a:t>
            </a:r>
          </a:p>
        </p:txBody>
      </p:sp>
      <p:pic>
        <p:nvPicPr>
          <p:cNvPr id="13" name="Picture 12" descr="q9_outpu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4773168"/>
            <a:ext cx="7223760" cy="1417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65008" y="4919472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B"/>
                </a:solidFill>
                <a:latin typeface="Aptos"/>
              </a:rPr>
              <a:t>Source: MySQL Workbench screenshot supplied for this project.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5650992"/>
            <a:ext cx="3246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96096"/>
                </a:solidFill>
                <a:latin typeface="Aptos"/>
              </a:rPr>
              <a:t>CTE + ROW_NUMBER + PARTITION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B"/>
                </a:solidFill>
                <a:latin typeface="Aptos"/>
              </a:rPr>
              <a:t>MUSIC STREAMING SQL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6539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17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10927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0262E"/>
                </a:solidFill>
                <a:latin typeface="Aptos"/>
              </a:rPr>
              <a:t>Q10. For every user, number their song-play events chronologically using ROW_NUMBER().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65376"/>
            <a:ext cx="6629400" cy="2606040"/>
          </a:xfrm>
          <a:prstGeom prst="roundRect">
            <a:avLst/>
          </a:prstGeom>
          <a:solidFill>
            <a:srgbClr val="F8F9FB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11680"/>
            <a:ext cx="6300216" cy="236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0262E"/>
                </a:solidFill>
                <a:latin typeface="Consolas"/>
              </a:rPr>
              <a:t>SELECT
    userId,
    artist,
    song,
    ts,
    ROW_NUMBER() OVER (
        PARTITION BY userId
        ORDER BY ts
    ) AS play_number
FROM events_cleaned
WHERE page = 'NextSong'
ORDER BY userId, ts;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24358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81328"/>
            <a:ext cx="3931920" cy="2999232"/>
          </a:xfrm>
          <a:prstGeom prst="roundRect">
            <a:avLst/>
          </a:prstGeom>
          <a:solidFill>
            <a:srgbClr val="FCFCFC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984248"/>
            <a:ext cx="3529584" cy="2340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62E"/>
                </a:solidFill>
                <a:latin typeface="Aptos"/>
              </a:rPr>
              <a:t>ROW_NUMBER restarts at 1 for every user and follows the timestamp order, creating a chronological play sequence.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526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OUTPUT SAMPLE</a:t>
            </a:r>
          </a:p>
        </p:txBody>
      </p:sp>
      <p:pic>
        <p:nvPicPr>
          <p:cNvPr id="13" name="Picture 12" descr="q10_outpu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4773168"/>
            <a:ext cx="7223760" cy="1417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65008" y="4919472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B"/>
                </a:solidFill>
                <a:latin typeface="Aptos"/>
              </a:rPr>
              <a:t>Source: MySQL Workbench screenshot supplied for this project.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5650992"/>
            <a:ext cx="3246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96096"/>
                </a:solidFill>
                <a:latin typeface="Aptos"/>
              </a:rPr>
              <a:t>ROW_NUMBER + PARTITION + Chronological Order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B"/>
                </a:solidFill>
                <a:latin typeface="Aptos"/>
              </a:rPr>
              <a:t>MUSIC STREAMING SQL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6539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17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10927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0262E"/>
                </a:solidFill>
                <a:latin typeface="Aptos"/>
              </a:rPr>
              <a:t>Q11. Use LAG() to calculate the time in minutes between consecutive song plays for each user.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65376"/>
            <a:ext cx="6629400" cy="2606040"/>
          </a:xfrm>
          <a:prstGeom prst="roundRect">
            <a:avLst/>
          </a:prstGeom>
          <a:solidFill>
            <a:srgbClr val="F8F9FB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11680"/>
            <a:ext cx="6300216" cy="236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0262E"/>
                </a:solidFill>
                <a:latin typeface="Consolas"/>
              </a:rPr>
              <a:t>WITH user_events AS (
    SELECT
        userId,
        artist,
        song,
        ts,
        LAG(ts) OVER (
            PARTITION BY userId
            ORDER BY ts
        ) AS previous_ts
    FROM events_cleaned
    WHERE page = 'NextSong'
)
SELECT
    userId,
    artist,
    song,
    ts,
    previous_ts,
    ROUND(
        (ts - previous_ts) / 60000, 2
    ) AS minutes_since_previous
FROM user_events
ORDER BY userId, ts;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24358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81328"/>
            <a:ext cx="3931920" cy="2999232"/>
          </a:xfrm>
          <a:prstGeom prst="roundRect">
            <a:avLst/>
          </a:prstGeom>
          <a:solidFill>
            <a:srgbClr val="FCFCFC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984248"/>
            <a:ext cx="3529584" cy="2340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62E"/>
                </a:solidFill>
                <a:latin typeface="Aptos"/>
              </a:rPr>
              <a:t>LAG() exposes the previous play timestamp for each user, allowing the elapsed time between consecutive plays to be calculated in minutes.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526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OUTPUT SAMPLE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1792" y="4754880"/>
          <a:ext cx="722376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7920"/>
                <a:gridCol w="2407920"/>
                <a:gridCol w="2407920"/>
              </a:tblGrid>
              <a:tr h="19333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userId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song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previous_min_gap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Self Control (Laurent Wolf &amp;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Hurt Me Soul (Explicit Album V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Tell Me When The Party's Over/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The Lady Is A Tramp (From 'Bab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Love Stinks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332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Pienso En Ti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065008" y="482803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9717B"/>
                </a:solidFill>
                <a:latin typeface="Aptos"/>
              </a:rPr>
              <a:t>SQL 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5148072"/>
            <a:ext cx="3246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96096"/>
                </a:solidFill>
                <a:latin typeface="Aptos"/>
              </a:rPr>
              <a:t>CTE + LAG + Timestamp Difference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B"/>
                </a:solidFill>
                <a:latin typeface="Aptos"/>
              </a:rPr>
              <a:t>MUSIC STREAMING SQL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6539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17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10927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0262E"/>
                </a:solidFill>
                <a:latin typeface="Aptos"/>
              </a:rPr>
              <a:t>Q12. Calculate cumulative listening time for every user over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65376"/>
            <a:ext cx="6629400" cy="2606040"/>
          </a:xfrm>
          <a:prstGeom prst="roundRect">
            <a:avLst/>
          </a:prstGeom>
          <a:solidFill>
            <a:srgbClr val="F8F9FB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11680"/>
            <a:ext cx="6300216" cy="236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0262E"/>
                </a:solidFill>
                <a:latin typeface="Consolas"/>
              </a:rPr>
              <a:t>SELECT
    userId,
    artist,
    song,
    ts,
    length,
    ROUND(
        SUM(length) OVER (
            PARTITION BY userId
            ORDER BY ts
            ROWS BETWEEN UNBOUNDED PRECEDING
                 AND CURRENT ROW
        ) / 60,
        2
    ) AS cumulative_listening_minutes
FROM events_cleaned
WHERE page = 'NextSong'
ORDER BY userId, ts;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24358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81328"/>
            <a:ext cx="3931920" cy="2999232"/>
          </a:xfrm>
          <a:prstGeom prst="roundRect">
            <a:avLst/>
          </a:prstGeom>
          <a:solidFill>
            <a:srgbClr val="FCFCFC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984248"/>
            <a:ext cx="3529584" cy="2340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62E"/>
                </a:solidFill>
                <a:latin typeface="Aptos"/>
              </a:rPr>
              <a:t>The running total accumulates each user's song duration over time, giving a chronological listening-time curve.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526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OUTPUT SAMPLE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1792" y="4754880"/>
          <a:ext cx="722376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7920"/>
                <a:gridCol w="2407920"/>
                <a:gridCol w="2407920"/>
              </a:tblGrid>
              <a:tr h="19333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userId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song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cumulative_min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Self Control (Laurent Wolf &amp;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8.41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Hurt Me Soul (Explicit Album 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12.79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Tell Me When The Party's 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19.15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The Lady Is A Tramp (From 'Ba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22.23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Love Stinks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25.97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332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Pienso En Ti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28.44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065008" y="482803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9717B"/>
                </a:solidFill>
                <a:latin typeface="Aptos"/>
              </a:rPr>
              <a:t>SQL 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5148072"/>
            <a:ext cx="3246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96096"/>
                </a:solidFill>
                <a:latin typeface="Aptos"/>
              </a:rPr>
              <a:t>Windowed SUM + Running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B"/>
                </a:solidFill>
                <a:latin typeface="Aptos"/>
              </a:rPr>
              <a:t>MUSIC STREAMING SQL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6539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17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10927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0262E"/>
                </a:solidFill>
                <a:latin typeface="Aptos"/>
              </a:rPr>
              <a:t>Q13. Calculate each user's percentage contribution to total song plays.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65376"/>
            <a:ext cx="6629400" cy="2606040"/>
          </a:xfrm>
          <a:prstGeom prst="roundRect">
            <a:avLst/>
          </a:prstGeom>
          <a:solidFill>
            <a:srgbClr val="F8F9FB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11680"/>
            <a:ext cx="6300216" cy="236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0262E"/>
                </a:solidFill>
                <a:latin typeface="Consolas"/>
              </a:rPr>
              <a:t>WITH user_plays AS (
    SELECT
        userId,
        COUNT(*) AS total_plays
    FROM events_cleaned
    WHERE page = 'NextSong'
    GROUP BY userId
)
SELECT
    userId,
    total_plays,
    ROUND(
        total_plays /
        SUM(total_plays) OVER () * 100,
        2
    ) AS play_contribution_pct
FROM user_plays
ORDER BY play_contribution_pct DESC;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24358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81328"/>
            <a:ext cx="3931920" cy="2999232"/>
          </a:xfrm>
          <a:prstGeom prst="roundRect">
            <a:avLst/>
          </a:prstGeom>
          <a:solidFill>
            <a:srgbClr val="FCFCFC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984248"/>
            <a:ext cx="3529584" cy="2340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62E"/>
                </a:solidFill>
                <a:latin typeface="Aptos"/>
              </a:rPr>
              <a:t>User 49 contributes about 10.10% of all observed song plays, followed by users 80 and 97.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526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OUTPUT SAMPLE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1792" y="4754880"/>
          <a:ext cx="722376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7920"/>
                <a:gridCol w="2407920"/>
                <a:gridCol w="2407920"/>
              </a:tblGrid>
              <a:tr h="19333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userId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total_plays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play_contribution_pct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689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10.10%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80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665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9.75%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557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8.17%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463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6.79%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397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5.82%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332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29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346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5.07%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065008" y="482803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9717B"/>
                </a:solidFill>
                <a:latin typeface="Aptos"/>
              </a:rPr>
              <a:t>SQL 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5148072"/>
            <a:ext cx="3246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96096"/>
                </a:solidFill>
                <a:latin typeface="Aptos"/>
              </a:rPr>
              <a:t>CTE + Window Aggregate + Percentage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B"/>
                </a:solidFill>
                <a:latin typeface="Aptos"/>
              </a:rPr>
              <a:t>MUSIC STREAMING SQL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6539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17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10927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0262E"/>
                </a:solidFill>
                <a:latin typeface="Aptos"/>
              </a:rPr>
              <a:t>Q14. Find each user's most-played song using ROW_NUMBER().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65376"/>
            <a:ext cx="6629400" cy="2606040"/>
          </a:xfrm>
          <a:prstGeom prst="roundRect">
            <a:avLst/>
          </a:prstGeom>
          <a:solidFill>
            <a:srgbClr val="F8F9FB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11680"/>
            <a:ext cx="6300216" cy="236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0262E"/>
                </a:solidFill>
                <a:latin typeface="Consolas"/>
              </a:rPr>
              <a:t>WITH user_song_counts AS (
    SELECT
        userId,
        song,
        COUNT(*) AS total_plays
    FROM events_cleaned
    WHERE page = 'NextSong'
    GROUP BY userId, song
),
ranked_songs AS (
    SELECT
        userId,
        song,
        total_plays,
        ROW_NUMBER() OVER (
            PARTITION BY userId
            ORDER BY total_plays DESC
        ) AS song_rank
    FROM user_song_counts
)
SELECT userId, song, total_plays
FROM ranked_songs
WHERE song_rank = 1
ORDER BY userId;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24358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81328"/>
            <a:ext cx="3931920" cy="2999232"/>
          </a:xfrm>
          <a:prstGeom prst="roundRect">
            <a:avLst/>
          </a:prstGeom>
          <a:solidFill>
            <a:srgbClr val="FCFCFC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984248"/>
            <a:ext cx="3529584" cy="2340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62E"/>
                </a:solidFill>
                <a:latin typeface="Aptos"/>
              </a:rPr>
              <a:t>The query returns one most-played song per user; when play counts tie, ROW_NUMBER selects one row.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526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OUTPUT SAMPLE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1792" y="4754880"/>
          <a:ext cx="722376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7920"/>
                <a:gridCol w="2407920"/>
                <a:gridCol w="2407920"/>
              </a:tblGrid>
              <a:tr h="19333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userId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song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total_plays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Hurt Me Soul (Explicit Album 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Adios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Bracelets (LP Version)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Anything You Say (Unreleased Ver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Absolution: Of Flight and Failur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332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Deeper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065008" y="482803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9717B"/>
                </a:solidFill>
                <a:latin typeface="Aptos"/>
              </a:rPr>
              <a:t>SQL 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5148072"/>
            <a:ext cx="3246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96096"/>
                </a:solidFill>
                <a:latin typeface="Aptos"/>
              </a:rPr>
              <a:t>CTE + ROW_NUMBER + Top-per-User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B"/>
                </a:solidFill>
                <a:latin typeface="Aptos"/>
              </a:rPr>
              <a:t>MUSIC STREAMING SQL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6539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17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10927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0262E"/>
                </a:solidFill>
                <a:latin typeface="Aptos"/>
              </a:rPr>
              <a:t>Q15. Find the most popular song for each song-release year using RANK().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65376"/>
            <a:ext cx="6629400" cy="2606040"/>
          </a:xfrm>
          <a:prstGeom prst="roundRect">
            <a:avLst/>
          </a:prstGeom>
          <a:solidFill>
            <a:srgbClr val="F8F9FB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11680"/>
            <a:ext cx="6300216" cy="236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0262E"/>
                </a:solidFill>
                <a:latin typeface="Consolas"/>
              </a:rPr>
              <a:t>WITH song_plays AS (
    SELECT
        s.year,
        s.title,
        COUNT(*) AS total_plays
    FROM events_cleaned e
    JOIN songs s
      ON e.artist = s.artist_name
     AND e.song = s.title
    WHERE e.page = 'NextSong'
      AND s.year &gt; 0
    GROUP BY s.year, s.title
),
ranked_songs AS (
    SELECT
        year,
        title,
        total_plays,
        RANK() OVER (
            PARTITION BY year
            ORDER BY total_plays DESC
        ) AS song_rank
    FROM song_plays
)
SELECT year, title, total_plays, song_rank
FROM ranked_songs
WHERE song_rank = 1
ORDER BY year;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24358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81328"/>
            <a:ext cx="3931920" cy="2999232"/>
          </a:xfrm>
          <a:prstGeom prst="roundRect">
            <a:avLst/>
          </a:prstGeom>
          <a:solidFill>
            <a:srgbClr val="FCFCFC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984248"/>
            <a:ext cx="3529584" cy="2340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62E"/>
                </a:solidFill>
                <a:latin typeface="Aptos"/>
              </a:rPr>
              <a:t>No qualifying release-year result is available because the exact event/song join has only a year-0 match in the supplied metadata.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526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OUTPUT SAMPLE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754880"/>
            <a:ext cx="7223760" cy="1353312"/>
          </a:xfrm>
          <a:prstGeom prst="roundRect">
            <a:avLst/>
          </a:prstGeom>
          <a:solidFill>
            <a:srgbClr val="FAFAFA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5166360"/>
            <a:ext cx="6766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D03535"/>
                </a:solidFill>
                <a:latin typeface="Aptos"/>
              </a:rPr>
              <a:t>No rows returned from the current data/query combination.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482803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9717B"/>
                </a:solidFill>
                <a:latin typeface="Aptos"/>
              </a:rPr>
              <a:t>SQL CONCEPT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5148072"/>
            <a:ext cx="3246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96096"/>
                </a:solidFill>
                <a:latin typeface="Aptos"/>
              </a:rPr>
              <a:t>JOIN + RANK + Partition by Year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5897880"/>
            <a:ext cx="16459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D03535"/>
                </a:solidFill>
                <a:latin typeface="Aptos"/>
              </a:rPr>
              <a:t>Data validation note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6126480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17B"/>
                </a:solidFill>
                <a:latin typeface="Aptos"/>
              </a:rPr>
              <a:t>Result constrained by the supplied event ↔ song metadata match.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B"/>
                </a:solidFill>
                <a:latin typeface="Aptos"/>
              </a:rPr>
              <a:t>MUSIC STREAMING SQL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6539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17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10927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0262E"/>
                </a:solidFill>
                <a:latin typeface="Aptos"/>
              </a:rPr>
              <a:t>Q16. For each user, compare current song length with previous song length using LAG().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65376"/>
            <a:ext cx="6629400" cy="2606040"/>
          </a:xfrm>
          <a:prstGeom prst="roundRect">
            <a:avLst/>
          </a:prstGeom>
          <a:solidFill>
            <a:srgbClr val="F8F9FB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11680"/>
            <a:ext cx="6300216" cy="236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0262E"/>
                </a:solidFill>
                <a:latin typeface="Consolas"/>
              </a:rPr>
              <a:t>WITH user_songs AS (
    SELECT
        userId,
        artist,
        song,
        length AS current_song_length,
        ts,
        LAG(length) OVER (
            PARTITION BY userId
            ORDER BY ts
        ) AS previous_song_length
    FROM events_cleaned
    WHERE page = 'NextSong'
)
SELECT
    userId,
    artist,
    song,
    current_song_length,
    previous_song_length,
    current_song_length - previous_song_length
        AS length_difference
FROM user_songs
ORDER BY userId, ts;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24358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81328"/>
            <a:ext cx="3931920" cy="2999232"/>
          </a:xfrm>
          <a:prstGeom prst="roundRect">
            <a:avLst/>
          </a:prstGeom>
          <a:solidFill>
            <a:srgbClr val="FCFCFC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984248"/>
            <a:ext cx="3529584" cy="2340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62E"/>
                </a:solidFill>
                <a:latin typeface="Aptos"/>
              </a:rPr>
              <a:t>LAG() makes it possible to compare the current song length with the previous song length for the same user.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526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OUTPUT SAMPLE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1792" y="4754880"/>
          <a:ext cx="722376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4752"/>
                <a:gridCol w="1444752"/>
                <a:gridCol w="1444752"/>
                <a:gridCol w="1444752"/>
                <a:gridCol w="1444752"/>
              </a:tblGrid>
              <a:tr h="19333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userId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song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current_len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previous_len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difference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Self Control (Laurent Wol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504.6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Hurt Me Soul (Explicit Al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262.9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504.6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-241.7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Tell Me When The Party's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381.4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262.9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118.5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The Lady Is A Tramp (From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185.1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381.4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-196.4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Love Stinks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224.4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185.1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39.4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332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Pienso En Ti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148.2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224.4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-76.3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065008" y="482803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9717B"/>
                </a:solidFill>
                <a:latin typeface="Aptos"/>
              </a:rPr>
              <a:t>SQL 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5148072"/>
            <a:ext cx="3246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96096"/>
                </a:solidFill>
                <a:latin typeface="Aptos"/>
              </a:rPr>
              <a:t>CTE + LAG + Difference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B"/>
                </a:solidFill>
                <a:latin typeface="Aptos"/>
              </a:rPr>
              <a:t>MUSIC STREAMING SQL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6539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17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10927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0262E"/>
                </a:solidFill>
                <a:latin typeface="Aptos"/>
              </a:rPr>
              <a:t>Q17. Using CTEs, classify users as Heavy, Regular, or Light listeners based on total song plays.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65376"/>
            <a:ext cx="6629400" cy="2606040"/>
          </a:xfrm>
          <a:prstGeom prst="roundRect">
            <a:avLst/>
          </a:prstGeom>
          <a:solidFill>
            <a:srgbClr val="F8F9FB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11680"/>
            <a:ext cx="6300216" cy="236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0262E"/>
                </a:solidFill>
                <a:latin typeface="Consolas"/>
              </a:rPr>
              <a:t>WITH user_plays AS (
    SELECT
        userId,
        COUNT(*) AS total_plays
    FROM events_cleaned
    WHERE page = 'NextSong'
    GROUP BY userId
),
user_ranked AS (
    SELECT
        userId,
        total_plays,
        NTILE(4) OVER (
            ORDER BY total_plays
        ) AS quartile
    FROM user_plays
)
SELECT
    userId,
    total_plays,
    CASE
        WHEN quartile = 4 THEN 'Heavy'
        WHEN quartile IN (2, 3) THEN 'Regular'
        ELSE 'Light'
    END AS listener_type
FROM user_ranked
ORDER BY total_plays DESC;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24358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81328"/>
            <a:ext cx="3931920" cy="2999232"/>
          </a:xfrm>
          <a:prstGeom prst="roundRect">
            <a:avLst/>
          </a:prstGeom>
          <a:solidFill>
            <a:srgbClr val="FCFCFC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984248"/>
            <a:ext cx="3529584" cy="2340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62E"/>
                </a:solidFill>
                <a:latin typeface="Aptos"/>
              </a:rPr>
              <a:t>Using quartiles, the dataset classifies 24 users as Heavy, 48 as Regular and 24 as Light listeners. The threshold choice is a documented project assumption.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526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OUTPUT SAMPLE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1792" y="4754880"/>
          <a:ext cx="722376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/>
                <a:gridCol w="3611880"/>
              </a:tblGrid>
              <a:tr h="3383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listener_type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users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Heavy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Regular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48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Light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065008" y="482803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9717B"/>
                </a:solidFill>
                <a:latin typeface="Aptos"/>
              </a:rPr>
              <a:t>SQL 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5148072"/>
            <a:ext cx="3246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96096"/>
                </a:solidFill>
                <a:latin typeface="Aptos"/>
              </a:rPr>
              <a:t>CTE + NTILE + 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B"/>
                </a:solidFill>
                <a:latin typeface="Aptos"/>
              </a:rPr>
              <a:t>MUSIC STREAMING SQL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6539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17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10927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0262E"/>
                </a:solidFill>
                <a:latin typeface="Aptos"/>
              </a:rPr>
              <a:t>Q18. Using CTEs, calculate total listening minutes for each user and return the top 10 users.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65376"/>
            <a:ext cx="6629400" cy="2606040"/>
          </a:xfrm>
          <a:prstGeom prst="roundRect">
            <a:avLst/>
          </a:prstGeom>
          <a:solidFill>
            <a:srgbClr val="F8F9FB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11680"/>
            <a:ext cx="6300216" cy="236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0262E"/>
                </a:solidFill>
                <a:latin typeface="Consolas"/>
              </a:rPr>
              <a:t>WITH user_listening AS (
    SELECT
        userId,
        SUM(length) / 60 AS total_listening_minutes
    FROM events_cleaned
    WHERE page = 'NextSong'
    GROUP BY userId
)
SELECT
    userId,
    ROUND(total_listening_minutes, 2)
        AS total_listening_minutes
FROM user_listening
ORDER BY total_listening_minutes DESC
LIMIT 10;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24358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81328"/>
            <a:ext cx="3931920" cy="2999232"/>
          </a:xfrm>
          <a:prstGeom prst="roundRect">
            <a:avLst/>
          </a:prstGeom>
          <a:solidFill>
            <a:srgbClr val="FCFCFC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984248"/>
            <a:ext cx="3529584" cy="2340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62E"/>
                </a:solidFill>
                <a:latin typeface="Aptos"/>
              </a:rPr>
              <a:t>User 49 has the highest observed listening time at about 2,859.87 minutes, followed by users 80 and 97.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526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OUTPUT SAMPLE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1792" y="4754880"/>
          <a:ext cx="722376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/>
                <a:gridCol w="3611880"/>
              </a:tblGrid>
              <a:tr h="19333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userId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total_listening_minutes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2859.87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80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2759.63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2283.87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1970.38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1585.48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332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29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1383.26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065008" y="482803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9717B"/>
                </a:solidFill>
                <a:latin typeface="Aptos"/>
              </a:rPr>
              <a:t>SQL 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5148072"/>
            <a:ext cx="3246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96096"/>
                </a:solidFill>
                <a:latin typeface="Aptos"/>
              </a:rPr>
              <a:t>CTE + SUM + LIMIT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B"/>
                </a:solidFill>
                <a:latin typeface="Aptos"/>
              </a:rPr>
              <a:t>MUSIC STREAMING SQL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6539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17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10927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0262E"/>
                </a:solidFill>
                <a:latin typeface="Aptos"/>
              </a:rPr>
              <a:t>Q19. Using CTEs, calculate daily song plays and return days with above-average activity.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65376"/>
            <a:ext cx="6629400" cy="2606040"/>
          </a:xfrm>
          <a:prstGeom prst="roundRect">
            <a:avLst/>
          </a:prstGeom>
          <a:solidFill>
            <a:srgbClr val="F8F9FB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11680"/>
            <a:ext cx="6300216" cy="236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0262E"/>
                </a:solidFill>
                <a:latin typeface="Consolas"/>
              </a:rPr>
              <a:t>WITH daily_plays AS (
    SELECT
        DATE(FROM_UNIXTIME(ts / 1000)) AS play_date,
        COUNT(*) AS total_plays
    FROM events_cleaned
    WHERE page = 'NextSong'
    GROUP BY DATE(FROM_UNIXTIME(ts / 1000))
),
average_activity AS (
    SELECT AVG(total_plays) AS average_daily_plays
    FROM daily_plays
)
SELECT play_date, total_plays
FROM daily_plays
WHERE total_plays &gt; (
    SELECT average_daily_plays
    FROM average_activity
)
ORDER BY play_date;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24358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81328"/>
            <a:ext cx="3931920" cy="2999232"/>
          </a:xfrm>
          <a:prstGeom prst="roundRect">
            <a:avLst/>
          </a:prstGeom>
          <a:solidFill>
            <a:srgbClr val="FCFCFC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984248"/>
            <a:ext cx="3529584" cy="2340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62E"/>
                </a:solidFill>
                <a:latin typeface="Aptos"/>
              </a:rPr>
              <a:t>Average daily activity is 227.33 plays; 14 dates are above that average. The highest observed day is 2018-11-15 with 488 plays.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526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OUTPUT SAMPLE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1792" y="4754880"/>
          <a:ext cx="722376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/>
                <a:gridCol w="3611880"/>
              </a:tblGrid>
              <a:tr h="19333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play_date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total_plays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2018-11-15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2018-11-21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437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2018-11-14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371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2018-11-29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358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2018-11-05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357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332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2018-11-13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344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065008" y="482803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9717B"/>
                </a:solidFill>
                <a:latin typeface="Aptos"/>
              </a:rPr>
              <a:t>SQL 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5148072"/>
            <a:ext cx="3246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96096"/>
                </a:solidFill>
                <a:latin typeface="Aptos"/>
              </a:rPr>
              <a:t>CTE + DATE + AVG + Subquery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B"/>
                </a:solidFill>
                <a:latin typeface="Aptos"/>
              </a:rPr>
              <a:t>MUSIC STREAMING SQL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6539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17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10927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0262E"/>
                </a:solidFill>
                <a:latin typeface="Aptos"/>
              </a:rPr>
              <a:t>Q20. Using CTEs, calculate unique users, total plays and plays per user for each subscription level.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65376"/>
            <a:ext cx="6629400" cy="2606040"/>
          </a:xfrm>
          <a:prstGeom prst="roundRect">
            <a:avLst/>
          </a:prstGeom>
          <a:solidFill>
            <a:srgbClr val="F8F9FB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11680"/>
            <a:ext cx="6300216" cy="236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0262E"/>
                </a:solidFill>
                <a:latin typeface="Consolas"/>
              </a:rPr>
              <a:t>WITH level_summary AS (
    SELECT
        level,
        COUNT(DISTINCT userId) AS unique_users,
        COUNT(*) AS total_plays
    FROM events_cleaned
    WHERE page = 'NextSong'
    GROUP BY level
)
SELECT
    level,
    unique_users,
    total_plays,
    ROUND(total_plays / unique_users, 2)
        AS plays_per_user
FROM level_summary
ORDER BY level;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24358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81328"/>
            <a:ext cx="3931920" cy="2999232"/>
          </a:xfrm>
          <a:prstGeom prst="roundRect">
            <a:avLst/>
          </a:prstGeom>
          <a:solidFill>
            <a:srgbClr val="FCFCFC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984248"/>
            <a:ext cx="3529584" cy="2340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62E"/>
                </a:solidFill>
                <a:latin typeface="Aptos"/>
              </a:rPr>
              <a:t>Paid users show much higher plays per user in this dataset (254.14) than free users (14.99), while the paid group has fewer unique users.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526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OUTPUT SAMPLE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1792" y="4754880"/>
          <a:ext cx="722376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5940"/>
                <a:gridCol w="1805940"/>
                <a:gridCol w="1805940"/>
                <a:gridCol w="1805940"/>
              </a:tblGrid>
              <a:tr h="45110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level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unique_users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total_plays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plays_per_user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1229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14.99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paid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22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5591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254.14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065008" y="482803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9717B"/>
                </a:solidFill>
                <a:latin typeface="Aptos"/>
              </a:rPr>
              <a:t>SQL 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5148072"/>
            <a:ext cx="3246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96096"/>
                </a:solidFill>
                <a:latin typeface="Aptos"/>
              </a:rPr>
              <a:t>CTE + COUNT DISTINCT + KPI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B"/>
                </a:solidFill>
                <a:latin typeface="Aptos"/>
              </a:rPr>
              <a:t>MUSIC STREAMING SQL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6539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17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10927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0262E"/>
                </a:solidFill>
                <a:latin typeface="Aptos"/>
              </a:rPr>
              <a:t>Q21. Using CTEs, calculate monthly song plays and find the month with the highest activity.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65376"/>
            <a:ext cx="6629400" cy="2606040"/>
          </a:xfrm>
          <a:prstGeom prst="roundRect">
            <a:avLst/>
          </a:prstGeom>
          <a:solidFill>
            <a:srgbClr val="F8F9FB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11680"/>
            <a:ext cx="6300216" cy="236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0262E"/>
                </a:solidFill>
                <a:latin typeface="Consolas"/>
              </a:rPr>
              <a:t>WITH monthly_plays AS (
    SELECT
        DATE_FORMAT(
            FROM_UNIXTIME(ts / 1000),
            '%Y-%m'
        ) AS play_month,
        COUNT(*) AS total_plays
    FROM events_cleaned
    WHERE page = 'NextSong'
    GROUP BY DATE_FORMAT(
        FROM_UNIXTIME(ts / 1000),
        '%Y-%m'
    )
)
SELECT play_month, total_plays
FROM monthly_plays
ORDER BY total_plays DESC
LIMIT 1;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24358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81328"/>
            <a:ext cx="3931920" cy="2999232"/>
          </a:xfrm>
          <a:prstGeom prst="roundRect">
            <a:avLst/>
          </a:prstGeom>
          <a:solidFill>
            <a:srgbClr val="FCFCFC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984248"/>
            <a:ext cx="3529584" cy="2340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62E"/>
                </a:solidFill>
                <a:latin typeface="Aptos"/>
              </a:rPr>
              <a:t>All observed NextSong activity falls in 2018-11 in the current dataset, with 6,820 plays.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526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OUTPUT SAMPLE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1792" y="4754880"/>
          <a:ext cx="722376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/>
                <a:gridCol w="3611880"/>
              </a:tblGrid>
              <a:tr h="67665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play_month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total_plays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2018-11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6820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065008" y="482803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9717B"/>
                </a:solidFill>
                <a:latin typeface="Aptos"/>
              </a:rPr>
              <a:t>SQL 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5148072"/>
            <a:ext cx="3246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96096"/>
                </a:solidFill>
                <a:latin typeface="Aptos"/>
              </a:rPr>
              <a:t>CTE + DATE_FORMAT + LIMIT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B"/>
                </a:solidFill>
                <a:latin typeface="Aptos"/>
              </a:rPr>
              <a:t>MUSIC STREAMING SQL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6539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17B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10927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0262E"/>
                </a:solidFill>
                <a:latin typeface="Aptos"/>
              </a:rPr>
              <a:t>Q22. Using CTEs, calculate plays by song-release year and identify release years with above-average plays.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65376"/>
            <a:ext cx="6629400" cy="2606040"/>
          </a:xfrm>
          <a:prstGeom prst="roundRect">
            <a:avLst/>
          </a:prstGeom>
          <a:solidFill>
            <a:srgbClr val="F8F9FB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11680"/>
            <a:ext cx="6300216" cy="236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0262E"/>
                </a:solidFill>
                <a:latin typeface="Consolas"/>
              </a:rPr>
              <a:t>WITH year_plays AS (
    SELECT
        s.year AS release_year,
        COUNT(*) AS total_plays
    FROM events_cleaned e
    JOIN songs s
      ON e.artist = s.artist_name
     AND e.song = s.title
    WHERE e.page = 'NextSong'
      AND s.year &gt; 0
    GROUP BY s.year
),
average_plays AS (
    SELECT AVG(total_plays) AS avg_yearly_plays
    FROM year_plays
)
SELECT release_year, total_plays
FROM year_plays
WHERE total_plays &gt; (
    SELECT avg_yearly_plays
    FROM average_plays
)
ORDER BY total_plays DESC;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24358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81328"/>
            <a:ext cx="3931920" cy="2999232"/>
          </a:xfrm>
          <a:prstGeom prst="roundRect">
            <a:avLst/>
          </a:prstGeom>
          <a:solidFill>
            <a:srgbClr val="FCFCFC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984248"/>
            <a:ext cx="3529584" cy="2340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62E"/>
                </a:solidFill>
                <a:latin typeface="Aptos"/>
              </a:rPr>
              <a:t>No above-average release-year result is available because the current exact event/song metadata join is too sparse for a meaningful year comparison.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526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OUTPUT SAMPLE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754880"/>
            <a:ext cx="7223760" cy="1353312"/>
          </a:xfrm>
          <a:prstGeom prst="roundRect">
            <a:avLst/>
          </a:prstGeom>
          <a:solidFill>
            <a:srgbClr val="FAFAFA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5166360"/>
            <a:ext cx="6766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D03535"/>
                </a:solidFill>
                <a:latin typeface="Aptos"/>
              </a:rPr>
              <a:t>No rows returned from the current data/query combination.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482803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9717B"/>
                </a:solidFill>
                <a:latin typeface="Aptos"/>
              </a:rPr>
              <a:t>SQL CONCEPT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5148072"/>
            <a:ext cx="3246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96096"/>
                </a:solidFill>
                <a:latin typeface="Aptos"/>
              </a:rPr>
              <a:t>JOIN + CTE + AVG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5897880"/>
            <a:ext cx="16459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D03535"/>
                </a:solidFill>
                <a:latin typeface="Aptos"/>
              </a:rPr>
              <a:t>Data validation note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6126480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17B"/>
                </a:solidFill>
                <a:latin typeface="Aptos"/>
              </a:rPr>
              <a:t>Result constrained by the supplied event ↔ song metadata match.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B"/>
                </a:solidFill>
                <a:latin typeface="Aptos"/>
              </a:rPr>
              <a:t>MUSIC STREAMING SQL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6539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17B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10927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0262E"/>
                </a:solidFill>
                <a:latin typeface="Aptos"/>
              </a:rPr>
              <a:t>Q23. Find users whose total song plays are greater than the average number of plays per user using a subquery.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65376"/>
            <a:ext cx="6629400" cy="2606040"/>
          </a:xfrm>
          <a:prstGeom prst="roundRect">
            <a:avLst/>
          </a:prstGeom>
          <a:solidFill>
            <a:srgbClr val="F8F9FB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11680"/>
            <a:ext cx="6300216" cy="236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0262E"/>
                </a:solidFill>
                <a:latin typeface="Consolas"/>
              </a:rPr>
              <a:t>SELECT
    userId,
    COUNT(*) AS total_plays
FROM events_cleaned
WHERE page = 'NextSong'
GROUP BY userId
HAVING COUNT(*) &gt; (
    SELECT AVG(user_play_count)
    FROM (
        SELECT
            userId,
            COUNT(*) AS user_play_count
        FROM events_cleaned
        WHERE page = 'NextSong'
        GROUP BY userId
    ) AS user_counts
)
ORDER BY total_plays DESC;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24358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81328"/>
            <a:ext cx="3931920" cy="2999232"/>
          </a:xfrm>
          <a:prstGeom prst="roundRect">
            <a:avLst/>
          </a:prstGeom>
          <a:solidFill>
            <a:srgbClr val="FCFCFC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984248"/>
            <a:ext cx="3529584" cy="2340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62E"/>
                </a:solidFill>
                <a:latin typeface="Aptos"/>
              </a:rPr>
              <a:t>The average observed song-play count per user is 71.04; users above that benchmark are identified by the subquery.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526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OUTPUT SAMPLE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1792" y="4754880"/>
          <a:ext cx="722376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/>
                <a:gridCol w="3611880"/>
              </a:tblGrid>
              <a:tr h="19333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userId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total_plays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689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80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665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557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463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397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332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29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346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065008" y="482803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9717B"/>
                </a:solidFill>
                <a:latin typeface="Aptos"/>
              </a:rPr>
              <a:t>SQL 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5148072"/>
            <a:ext cx="3246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96096"/>
                </a:solidFill>
                <a:latin typeface="Aptos"/>
              </a:rPr>
              <a:t>Subquery + HAVING + Average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B"/>
                </a:solidFill>
                <a:latin typeface="Aptos"/>
              </a:rPr>
              <a:t>MUSIC STREAMING SQL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6539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17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10927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0262E"/>
                </a:solidFill>
                <a:latin typeface="Aptos"/>
              </a:rPr>
              <a:t>Q24. Find songs whose number of plays is greater than the average number of plays across all songs using a subquery.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65376"/>
            <a:ext cx="6629400" cy="2606040"/>
          </a:xfrm>
          <a:prstGeom prst="roundRect">
            <a:avLst/>
          </a:prstGeom>
          <a:solidFill>
            <a:srgbClr val="F8F9FB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11680"/>
            <a:ext cx="6300216" cy="236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0262E"/>
                </a:solidFill>
                <a:latin typeface="Consolas"/>
              </a:rPr>
              <a:t>SELECT
    song,
    COUNT(*) AS total_plays
FROM events_cleaned
WHERE page = 'NextSong'
GROUP BY song
HAVING COUNT(*) &gt; (
    SELECT AVG(song_plays)
    FROM (
        SELECT
            song,
            COUNT(*) AS song_plays
        FROM events_cleaned
        WHERE page = 'NextSong'
        GROUP BY song
    ) AS song_counts
)
ORDER BY total_plays DESC;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24358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81328"/>
            <a:ext cx="3931920" cy="2999232"/>
          </a:xfrm>
          <a:prstGeom prst="roundRect">
            <a:avLst/>
          </a:prstGeom>
          <a:solidFill>
            <a:srgbClr val="FCFCFC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984248"/>
            <a:ext cx="3529584" cy="2340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62E"/>
                </a:solidFill>
                <a:latin typeface="Aptos"/>
              </a:rPr>
              <a:t>The average observed song-level play count is 1.31; songs above that benchmark include You're The One, Undo and Revelry.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526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OUTPUT SAMPLE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1792" y="4754880"/>
          <a:ext cx="722376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/>
                <a:gridCol w="3611880"/>
              </a:tblGrid>
              <a:tr h="19333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song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total_plays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You're The 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Undo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28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Revelry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Sehr kosmisch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21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Horn Concerto No. 4 in E flat K495: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332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Canada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17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065008" y="482803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9717B"/>
                </a:solidFill>
                <a:latin typeface="Aptos"/>
              </a:rPr>
              <a:t>SQL 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5148072"/>
            <a:ext cx="3246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96096"/>
                </a:solidFill>
                <a:latin typeface="Aptos"/>
              </a:rPr>
              <a:t>Subquery + HAVING + Average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B"/>
                </a:solidFill>
                <a:latin typeface="Aptos"/>
              </a:rPr>
              <a:t>MUSIC STREAMING SQL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6539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17B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10927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0262E"/>
                </a:solidFill>
                <a:latin typeface="Aptos"/>
              </a:rPr>
              <a:t>Q25. Find the user with the highest total listening time using a subquery.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65376"/>
            <a:ext cx="6629400" cy="2606040"/>
          </a:xfrm>
          <a:prstGeom prst="roundRect">
            <a:avLst/>
          </a:prstGeom>
          <a:solidFill>
            <a:srgbClr val="F8F9FB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11680"/>
            <a:ext cx="6300216" cy="236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0262E"/>
                </a:solidFill>
                <a:latin typeface="Consolas"/>
              </a:rPr>
              <a:t>SELECT
    userId,
    SUM(length) AS total_listening_seconds,
    ROUND(SUM(length) / 60, 2)
        AS total_listening_minutes
FROM events_cleaned
WHERE page = 'NextSong'
GROUP BY userId
HAVING SUM(length) = (
    SELECT MAX(total_listening)
    FROM (
        SELECT
            userId,
            SUM(length) AS total_listening
        FROM events_cleaned
        WHERE page = 'NextSong'
        GROUP BY userId
    ) AS user_listening
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24358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81328"/>
            <a:ext cx="3931920" cy="2999232"/>
          </a:xfrm>
          <a:prstGeom prst="roundRect">
            <a:avLst/>
          </a:prstGeom>
          <a:solidFill>
            <a:srgbClr val="FCFCFC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984248"/>
            <a:ext cx="3529584" cy="2340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62E"/>
                </a:solidFill>
                <a:latin typeface="Aptos"/>
              </a:rPr>
              <a:t>User 49 has the highest total listening time in the current data: about 2,859.87 minutes.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526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OUTPUT SAMPLE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1792" y="4754880"/>
          <a:ext cx="722376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/>
                <a:gridCol w="3611880"/>
              </a:tblGrid>
              <a:tr h="67665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userId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total_listening_minutes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2859.87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065008" y="482803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9717B"/>
                </a:solidFill>
                <a:latin typeface="Aptos"/>
              </a:rPr>
              <a:t>SQL 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5148072"/>
            <a:ext cx="3246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96096"/>
                </a:solidFill>
                <a:latin typeface="Aptos"/>
              </a:rPr>
              <a:t>Subquery + MAX + HAVING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B"/>
                </a:solidFill>
                <a:latin typeface="Aptos"/>
              </a:rPr>
              <a:t>MUSIC STREAMING SQL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6539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17B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10927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0262E"/>
                </a:solidFill>
                <a:latin typeface="Aptos"/>
              </a:rPr>
              <a:t>Q26. Find artists whose total number of plays is greater than the average artist play count using a subquery.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65376"/>
            <a:ext cx="6629400" cy="2606040"/>
          </a:xfrm>
          <a:prstGeom prst="roundRect">
            <a:avLst/>
          </a:prstGeom>
          <a:solidFill>
            <a:srgbClr val="F8F9FB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11680"/>
            <a:ext cx="6300216" cy="236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0262E"/>
                </a:solidFill>
                <a:latin typeface="Consolas"/>
              </a:rPr>
              <a:t>SELECT
    artist,
    COUNT(*) AS total_plays
FROM events_cleaned
WHERE page = 'NextSong'
GROUP BY artist
HAVING COUNT(*) &gt; (
    SELECT AVG(artist_plays)
    FROM (
        SELECT
            artist,
            COUNT(*) AS artist_plays
        FROM events_cleaned
        WHERE page = 'NextSong'
        GROUP BY artist
    ) AS artist_counts
)
ORDER BY total_plays DESC;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24358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81328"/>
            <a:ext cx="3931920" cy="2999232"/>
          </a:xfrm>
          <a:prstGeom prst="roundRect">
            <a:avLst/>
          </a:prstGeom>
          <a:solidFill>
            <a:srgbClr val="FCFCFC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984248"/>
            <a:ext cx="3529584" cy="2340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62E"/>
                </a:solidFill>
                <a:latin typeface="Aptos"/>
              </a:rPr>
              <a:t>The average artist play count is 2.17; artists above that level include Coldplay, Kings Of Leon and Dwight Yoakam.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526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OUTPUT SAMPLE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1792" y="4754880"/>
          <a:ext cx="722376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/>
                <a:gridCol w="3611880"/>
              </a:tblGrid>
              <a:tr h="19333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artist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total_plays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Coldplay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Kings Of Leon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55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Dwight Yoakam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The Black Keys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36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Florence + The Machine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332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Muse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35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065008" y="482803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9717B"/>
                </a:solidFill>
                <a:latin typeface="Aptos"/>
              </a:rPr>
              <a:t>SQL 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5148072"/>
            <a:ext cx="3246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96096"/>
                </a:solidFill>
                <a:latin typeface="Aptos"/>
              </a:rPr>
              <a:t>Subquery + HAVING + Average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B"/>
                </a:solidFill>
                <a:latin typeface="Aptos"/>
              </a:rPr>
              <a:t>MUSIC STREAMING SQL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6539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17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10927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0262E"/>
                </a:solidFill>
                <a:latin typeface="Aptos"/>
              </a:rPr>
              <a:t>Q27. Find users who have listened to more distinct songs than the average user.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65376"/>
            <a:ext cx="6629400" cy="2606040"/>
          </a:xfrm>
          <a:prstGeom prst="roundRect">
            <a:avLst/>
          </a:prstGeom>
          <a:solidFill>
            <a:srgbClr val="F8F9FB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11680"/>
            <a:ext cx="6300216" cy="236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0262E"/>
                </a:solidFill>
                <a:latin typeface="Consolas"/>
              </a:rPr>
              <a:t>SELECT
    userId,
    COUNT(DISTINCT song) AS distinct_songs
FROM events_cleaned
WHERE page = 'NextSong'
GROUP BY userId
HAVING COUNT(DISTINCT song) &gt; (
    SELECT AVG(user_song_count)
    FROM (
        SELECT
            userId,
            COUNT(DISTINCT song) AS user_song_count
        FROM events_cleaned
        WHERE page = 'NextSong'
        GROUP BY userId
    ) AS user_counts
)
ORDER BY distinct_songs DESC;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24358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81328"/>
            <a:ext cx="3931920" cy="2999232"/>
          </a:xfrm>
          <a:prstGeom prst="roundRect">
            <a:avLst/>
          </a:prstGeom>
          <a:solidFill>
            <a:srgbClr val="FCFCFC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984248"/>
            <a:ext cx="3529584" cy="2340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62E"/>
                </a:solidFill>
                <a:latin typeface="Aptos"/>
              </a:rPr>
              <a:t>The average user listened to 68.94 distinct songs; the query returns users above that benchmark.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526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OUTPUT SAMPLE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1792" y="4754880"/>
          <a:ext cx="722376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/>
                <a:gridCol w="3611880"/>
              </a:tblGrid>
              <a:tr h="19333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userId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distinct_songs</a:t>
                      </a:r>
                    </a:p>
                  </a:txBody>
                  <a:tcPr>
                    <a:solidFill>
                      <a:srgbClr val="1F252E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646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80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635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527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445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19333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389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3332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29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0262E"/>
                          </a:solidFill>
                          <a:latin typeface="Aptos"/>
                        </a:rPr>
                        <a:t>333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065008" y="482803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9717B"/>
                </a:solidFill>
                <a:latin typeface="Aptos"/>
              </a:rPr>
              <a:t>SQL 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5148072"/>
            <a:ext cx="3246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96096"/>
                </a:solidFill>
                <a:latin typeface="Aptos"/>
              </a:rPr>
              <a:t>Subquery + COUNT DISTINCT + Average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B"/>
                </a:solidFill>
                <a:latin typeface="Aptos"/>
              </a:rPr>
              <a:t>MUSIC STREAMING SQL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6539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17B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10927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0262E"/>
                </a:solidFill>
                <a:latin typeface="Aptos"/>
              </a:rPr>
              <a:t>Q28. Find songs with a release year greater than the average release year that were actually played.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65376"/>
            <a:ext cx="6629400" cy="2606040"/>
          </a:xfrm>
          <a:prstGeom prst="roundRect">
            <a:avLst/>
          </a:prstGeom>
          <a:solidFill>
            <a:srgbClr val="F8F9FB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11680"/>
            <a:ext cx="6300216" cy="236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0262E"/>
                </a:solidFill>
                <a:latin typeface="Consolas"/>
              </a:rPr>
              <a:t>SELECT DISTINCT
    s.title,
    s.artist_name,
    s.year AS release_year
FROM events_cleaned e
JOIN songs s
  ON e.artist = s.artist_name
 AND e.song = s.title
WHERE e.page = 'NextSong'
  AND s.year &gt; 0
  AND s.year &gt; (
      SELECT AVG(s2.year)
      FROM events_cleaned e2
      JOIN songs s2
        ON e2.artist = s2.artist_name
       AND e2.song = s2.title
      WHERE e2.page = 'NextSong'
        AND s2.year &gt; 0
  )
ORDER BY s.year, s.title;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24358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81328"/>
            <a:ext cx="3931920" cy="2999232"/>
          </a:xfrm>
          <a:prstGeom prst="roundRect">
            <a:avLst/>
          </a:prstGeom>
          <a:solidFill>
            <a:srgbClr val="FCFCFC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984248"/>
            <a:ext cx="3529584" cy="2340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62E"/>
                </a:solidFill>
                <a:latin typeface="Aptos"/>
              </a:rPr>
              <a:t>No qualifying result is available because the exact played-song join yields no positive release-year rows in the supplied metadata.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526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OUTPUT SAMPLE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754880"/>
            <a:ext cx="7223760" cy="1353312"/>
          </a:xfrm>
          <a:prstGeom prst="roundRect">
            <a:avLst/>
          </a:prstGeom>
          <a:solidFill>
            <a:srgbClr val="FAFAFA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5166360"/>
            <a:ext cx="6766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D03535"/>
                </a:solidFill>
                <a:latin typeface="Aptos"/>
              </a:rPr>
              <a:t>No rows returned from the current data/query combination.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482803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9717B"/>
                </a:solidFill>
                <a:latin typeface="Aptos"/>
              </a:rPr>
              <a:t>SQL CONCEPT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5148072"/>
            <a:ext cx="3246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96096"/>
                </a:solidFill>
                <a:latin typeface="Aptos"/>
              </a:rPr>
              <a:t>JOIN + Scalar Subquery + AVG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5897880"/>
            <a:ext cx="16459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D03535"/>
                </a:solidFill>
                <a:latin typeface="Aptos"/>
              </a:rPr>
              <a:t>Data validation note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6126480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17B"/>
                </a:solidFill>
                <a:latin typeface="Aptos"/>
              </a:rPr>
              <a:t>Result constrained by the supplied event ↔ song metadata match.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B"/>
                </a:solidFill>
                <a:latin typeface="Aptos"/>
              </a:rPr>
              <a:t>MUSIC STREAMING SQL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6539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17B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03535"/>
                </a:solidFill>
                <a:latin typeface="Aptos"/>
              </a:rP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0262E"/>
                </a:solidFill>
                <a:latin typeface="Aptos"/>
              </a:rPr>
              <a:t>What the SQL analysis reveals</a:t>
            </a:r>
          </a:p>
        </p:txBody>
      </p:sp>
      <p:sp>
        <p:nvSpPr>
          <p:cNvPr id="6" name="Oval 5"/>
          <p:cNvSpPr/>
          <p:nvPr/>
        </p:nvSpPr>
        <p:spPr>
          <a:xfrm>
            <a:off x="749808" y="1737360"/>
            <a:ext cx="320040" cy="320040"/>
          </a:xfrm>
          <a:prstGeom prst="ellipse">
            <a:avLst/>
          </a:prstGeom>
          <a:solidFill>
            <a:srgbClr val="D0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0136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719072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0262E"/>
                </a:solidFill>
                <a:latin typeface="Aptos"/>
              </a:rPr>
              <a:t>Paid subscription activity generated 653 of the 813 observed NextSong plays in the Q5 result.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560320"/>
            <a:ext cx="320040" cy="320040"/>
          </a:xfrm>
          <a:prstGeom prst="ellipse">
            <a:avLst/>
          </a:prstGeom>
          <a:solidFill>
            <a:srgbClr val="D0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24327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542032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0262E"/>
                </a:solidFill>
                <a:latin typeface="Aptos"/>
              </a:rPr>
              <a:t>Metallica leads the returned artist listening-time output at 34.35 minutes.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3383280"/>
            <a:ext cx="320040" cy="320040"/>
          </a:xfrm>
          <a:prstGeom prst="ellipse">
            <a:avLst/>
          </a:prstGeom>
          <a:solidFill>
            <a:srgbClr val="D0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4472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64992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0262E"/>
                </a:solidFill>
                <a:latin typeface="Aptos"/>
              </a:rPr>
              <a:t>Muse and Radiohead tie for rank 1 with 7 artist plays in the supplied Q7 output.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4206240"/>
            <a:ext cx="320040" cy="320040"/>
          </a:xfrm>
          <a:prstGeom prst="ellipse">
            <a:avLst/>
          </a:prstGeom>
          <a:solidFill>
            <a:srgbClr val="D0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2702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187952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0262E"/>
                </a:solidFill>
                <a:latin typeface="Aptos"/>
              </a:rPr>
              <a:t>User 49 has the highest observed listening time at approximately 2,859.87 minutes.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" y="5029200"/>
            <a:ext cx="320040" cy="320040"/>
          </a:xfrm>
          <a:prstGeom prst="ellipse">
            <a:avLst/>
          </a:prstGeom>
          <a:solidFill>
            <a:srgbClr val="D0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09320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010912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0262E"/>
                </a:solidFill>
                <a:latin typeface="Aptos"/>
              </a:rPr>
              <a:t>The current dataset's event/song metadata join is sparse, limiting reliable release-year analysis.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96096"/>
                </a:solidFill>
                <a:latin typeface="Aptos"/>
              </a:rPr>
              <a:t>Presentation structure: Business Question → SQL → Output → Insight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6539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B"/>
                </a:solidFill>
                <a:latin typeface="Aptos"/>
              </a:rPr>
              <a:t>MUSIC STREAMING SQL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56539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17B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20262E"/>
                </a:solidFill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D03535"/>
                </a:solidFill>
                <a:latin typeface="Aptos"/>
              </a:rPr>
              <a:t>Music Streaming SQL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9717B"/>
                </a:solidFill>
                <a:latin typeface="Aptos"/>
              </a:rPr>
              <a:t>Questions • SQL Answers • Results •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0262E"/>
                </a:solidFill>
                <a:latin typeface="Aptos"/>
              </a:rPr>
              <a:t>Prashant Kumar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96096"/>
                </a:solidFill>
                <a:latin typeface="Aptos"/>
              </a:rPr>
              <a:t>MySQL • Data Analytics • Portfolio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